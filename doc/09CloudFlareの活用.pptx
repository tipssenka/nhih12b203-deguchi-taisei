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https://code.visualstudio.com/docs/sourcecontrol/overview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0160">
            <a:solidFill>
              <a:srgbClr val="D8C8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4922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6A53"/>
                </a:solidFill>
              </a:rPr>
              <a:t>Cloudflare Workers ｜ サーバーレスAPI入門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5ad33d107.jpeg"/>
          <p:cNvPicPr>
            <a:picLocks noChangeAspect="1"/>
          </p:cNvPicPr>
          <p:nvPr/>
        </p:nvPicPr>
        <p:blipFill>
          <a:blip r:embed="rId3"/>
          <a:srcRect l="21686" r="21686"/>
          <a:stretch/>
        </p:blipFill>
        <p:spPr>
          <a:xfrm>
            <a:off x="6720840" y="0"/>
            <a:ext cx="5468112" cy="64373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03720" cy="6437376"/>
          </a:xfrm>
          <a:prstGeom prst="rect">
            <a:avLst/>
          </a:prstGeom>
          <a:solidFill>
            <a:srgbClr val="F7F1E6">
              <a:alpha val="9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7A33"/>
                </a:solidFill>
              </a:rPr>
              <a:t>LECTURE ｜ CLOUDFLARE WORKERS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118872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2113"/>
                </a:solidFill>
              </a:rPr>
              <a:t>静的ページから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E2113"/>
                </a:solidFill>
              </a:rPr>
              <a:t>動くWebアプリへ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76656" y="2788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553A"/>
                </a:solidFill>
              </a:rPr>
              <a:t>Cloudflare Workersでつくる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C0553A"/>
                </a:solidFill>
              </a:rPr>
              <a:t>はじめてのサーバーレスAPI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本日の到達目標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リクエストからレスポンスまでの流れをつかむ。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仕組み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Workersの役割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API公開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JSONを返す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画面接続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fetchで呼ぶ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LANGUAGE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今回使う言語：バニラJavaScript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標準文法とWeb APIで学ぶ。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バニラとは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フレームワークを使わない素のJavaScript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使う文法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変数、オブジェクト、関数、if文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使うAPI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Request、Response、fetch、URL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学習の焦点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JSONを返す流れ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前回までにできたこと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Pagesで静的ページを公開した。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HTML / CSS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画面を作る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GitHub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コードを管理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Pages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公開する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利用者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閲覧する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DEVELOPMENT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VS CodeとGitHubで作る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変更履歴を残しながらWorkersへ公開する。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VS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JavaScriptを編集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Git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変更を記録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GitHub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プッシュして共有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Cloudflare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Workersへ公開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GITHUB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GitHubリポジトリを作成する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VS Codeの日本語表示に合わせて操作する。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1. フォルダー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作業用フォルダーを作り、VS Codeで開く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2. ソース管理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「リポジトリを初期化」を選択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3. 最初のコミット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メッセージを入力して「コミット」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4. GitHubへ公開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「Branch の公開」または「ブランチの発行」を選択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01168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D6A53"/>
                </a:solidFill>
              </a:rPr>
              <a:t>※ VS Codeの版によりボタン名が異なる場合があります。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GITHUB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変更をコミットしてプッシュする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意味のある単位で履歴を残す。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1. 編集・保存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JavaScriptを変更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2. 差分確認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「ソース管理」で差分を見る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3. コミット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内容が分かるメッセージで「コミット」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4. プッシュ / 同期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「プッシュ」または「変更の同期」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GIT 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実習中の基本サイクル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小さく作り、小さく記録する。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編集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VS Codeで変更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実行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ローカルで確認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コミット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動いた状態を保存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プッシュ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GitHubへ反映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静的ページだけでは難しいこと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条件に応じて内容を変えたい。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時刻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その場で計算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検索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入力で変更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フォーム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送信を処理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外部API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別サービスと連携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STATIC / DYNAMIC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静的と動的の違い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事前に決まるか、その場で決まるか。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5353812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5033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静的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50063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HTML、CSS、画像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Pagesで配信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59068" y="2148840"/>
            <a:ext cx="5353812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1948" y="2313432"/>
            <a:ext cx="50337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動的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1948" y="2807208"/>
            <a:ext cx="50063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API、検索、フォーム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Workersで処理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WHAT IS WORKERS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Cloudflare Workersとは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リクエストを受け取り、処理し、レスポンスを返す。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管理を減らす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サーバーやOSを準備しない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エッジで実行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Cloudflare上で処理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APIへ発展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JSONや外部連携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REQUEST /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Webの処理を3段階で見る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受け取る、処理する、返す。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Request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URLや入力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Process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条件分岐や計算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Response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文字列やJSON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FIRST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最小のWorkerを読む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標準文法とWeb APIを組み合わせる。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6812280" cy="4069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20240"/>
            <a:ext cx="63550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 default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async fetch(request)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new Response("こんにちは、Cloudflare！");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1783080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783080"/>
            <a:ext cx="64008" cy="1078992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9476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request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0" y="244144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届いた情報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3081528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081528"/>
            <a:ext cx="64008" cy="1078992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32461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fetch()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0" y="373989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実行される関数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4379976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4379976"/>
            <a:ext cx="64008" cy="1078992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4544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Response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0" y="50383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返す結果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ROUTING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URLによって処理を分ける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pathnameを入口として利用する。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6812280" cy="4069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20240"/>
            <a:ext cx="63550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 default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async fetch(request)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const url = new URL(request.url);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(url.pathname === "/api/hello")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return new Response("こんにちは、API！");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new Response("ページが見つかりません", { status: 404 });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1783080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783080"/>
            <a:ext cx="64008" cy="1078992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9476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/api/hello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0" y="244144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こんにちは、API！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3081528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081528"/>
            <a:ext cx="64008" cy="1078992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32461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それ以外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0" y="373989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404 ページが見つかりません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JSON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APIが返すJSON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オブジェクトをJSONとして返す。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6812280" cy="4069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20240"/>
            <a:ext cx="63550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data =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title: "Cloudflare Workers",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status: "running"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return Response.json(data);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1783080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783080"/>
            <a:ext cx="64008" cy="1078992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9476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KEY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0" y="244144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title / status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3081528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081528"/>
            <a:ext cx="64008" cy="1078992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32461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VALUE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0" y="373989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「稼働中」などの日本語結果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4379976"/>
            <a:ext cx="3657600" cy="107899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4379976"/>
            <a:ext cx="64008" cy="1078992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4544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Response.json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0" y="50383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JSONで返す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HANDS-ON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今日つくるもの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架空データを返す学科紹介API。</a:t>
            </a:r>
            <a:endParaRPr lang="en-US" sz="1200" dirty="0"/>
          </a:p>
        </p:txBody>
      </p:sp>
      <p:pic>
        <p:nvPicPr>
          <p:cNvPr id="5" name="Image 0" descr="/mnt/data/840fb654f8.jpeg"/>
          <p:cNvPicPr>
            <a:picLocks noChangeAspect="1"/>
          </p:cNvPicPr>
          <p:nvPr/>
        </p:nvPicPr>
        <p:blipFill>
          <a:blip r:embed="rId3"/>
          <a:srcRect l="5311" r="5311"/>
          <a:stretch/>
        </p:blipFill>
        <p:spPr>
          <a:xfrm>
            <a:off x="594360" y="1737360"/>
            <a:ext cx="55778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920240"/>
            <a:ext cx="4937760" cy="24688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2121408"/>
            <a:ext cx="448056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"course": "IT",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"message": "Hello Workers"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プロジェクトを用意する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実習手順を順番に進める。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作成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プロジェクト作成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移動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フォルダーへ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設定とソース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起動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ローカル開始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ローカルで動かす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実習手順を順番に進める。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起動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URLを開く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変更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Responseを書換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表示を見る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JSONを返すAPIへ変更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実習手順を順番に進める。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値変更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course等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項目追加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架空項目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再確認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カンマと引用符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GitHubへプッシュ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実習手順を順番に進める。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差分確認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変更を見る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コミット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履歴を記録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プッシュ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GitHubへ反映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STEP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インターネットへ公開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実習手順を順番に進める。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連携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GitHubを選択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配置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Workerを公開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URLを開く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静的ページからAPIを呼ぶ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fetchでJSONを受け取り、HTMLへ表示する。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217920" cy="35204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84248"/>
            <a:ext cx="576072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fetch("WorkerのURL")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.then(response =&gt; response.json())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.then(data =&gt;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document.querySelector("#result").textContent = data.message;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60920" y="1965960"/>
            <a:ext cx="1691640" cy="187452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1965960"/>
            <a:ext cx="64008" cy="187452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21305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Pages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43800" y="2624328"/>
            <a:ext cx="1344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画面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738360" y="1965960"/>
            <a:ext cx="1691640" cy="187452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38360" y="1965960"/>
            <a:ext cx="64008" cy="187452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21240" y="21305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Workers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21240" y="2624328"/>
            <a:ext cx="1344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DEBUG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うまく動かないとき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原因を分けて確認する。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通信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URLと状態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コード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行番号と変更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データ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JSONとキー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公開前に確認すること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見せてよい情報だけを返す。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秘密を置かない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APIキー等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個人情報を返さない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氏名や学籍番号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入力を確認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長さや形式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詳細を隠す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内部エラー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EXERCISE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発展演習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1つ選んで追加する。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おみくじAPI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ランダム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897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6714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6714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時間帯の挨拶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9594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時刻で変更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1324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9068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名前付き挨拶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1948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クエリ利用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367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1422" y="2148840"/>
            <a:ext cx="2521458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1422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4302" y="2313432"/>
            <a:ext cx="220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イベント一覧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4302" y="2807208"/>
            <a:ext cx="21739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配列を返す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7A33"/>
                </a:solidFill>
              </a:rPr>
              <a:t>WRAP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E2113"/>
                </a:solidFill>
              </a:rPr>
              <a:t>PagesからWorkersへ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435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D6A53"/>
                </a:solidFill>
              </a:rPr>
              <a:t>編集、記録、公開、処理を一つの流れで。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2057400"/>
          </a:xfrm>
          <a:prstGeom prst="rect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VS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編集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33088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48840"/>
            <a:ext cx="64008" cy="2057400"/>
          </a:xfrm>
          <a:prstGeom prst="rect">
            <a:avLst/>
          </a:prstGeom>
          <a:solidFill>
            <a:srgbClr val="C0553A"/>
          </a:solidFill>
          <a:ln w="12700">
            <a:solidFill>
              <a:srgbClr val="C05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GitHub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履歴と共有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990088"/>
            <a:ext cx="164592" cy="365760"/>
          </a:xfrm>
          <a:prstGeom prst="chevron">
            <a:avLst/>
          </a:prstGeom>
          <a:solidFill>
            <a:srgbClr val="DD7A33"/>
          </a:solidFill>
          <a:ln w="12700">
            <a:solidFill>
              <a:srgbClr val="DD7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148840"/>
            <a:ext cx="3465576" cy="2057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D8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148840"/>
            <a:ext cx="64008" cy="2057400"/>
          </a:xfrm>
          <a:prstGeom prst="rect">
            <a:avLst/>
          </a:prstGeom>
          <a:solidFill>
            <a:srgbClr val="C2922B"/>
          </a:solidFill>
          <a:ln w="12700">
            <a:solidFill>
              <a:srgbClr val="C29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31343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2113"/>
                </a:solidFill>
              </a:rPr>
              <a:t>Workers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807208"/>
            <a:ext cx="31181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D6A53"/>
                </a:solidFill>
              </a:rPr>
              <a:t>処理と公開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011680" y="4892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D7A33"/>
                </a:solidFill>
              </a:rPr>
              <a:t>次の発展：D1 / KV / R2でデータを保存する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400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DD7A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13E13AA675F9B469C2A962A69912BCE" ma:contentTypeVersion="32" ma:contentTypeDescription="新しいドキュメントを作成します。" ma:contentTypeScope="" ma:versionID="373be977a15b5404341acea65e86cd99">
  <xsd:schema xmlns:xsd="http://www.w3.org/2001/XMLSchema" xmlns:xs="http://www.w3.org/2001/XMLSchema" xmlns:p="http://schemas.microsoft.com/office/2006/metadata/properties" xmlns:ns2="5a769d14-3dff-4d13-80cb-7ac986da4860" xmlns:ns3="3c7579cb-7c6d-42b9-885d-2089151e37b3" targetNamespace="http://schemas.microsoft.com/office/2006/metadata/properties" ma:root="true" ma:fieldsID="65ce00a2e82b42fbd9b6348465df19eb" ns2:_="" ns3:_="">
    <xsd:import namespace="5a769d14-3dff-4d13-80cb-7ac986da4860"/>
    <xsd:import namespace="3c7579cb-7c6d-42b9-885d-2089151e37b3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769d14-3dff-4d13-80cb-7ac986da4860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画像タグ" ma:readOnly="false" ma:fieldId="{5cf76f15-5ced-4ddc-b409-7134ff3c332f}" ma:taxonomyMulti="true" ma:sspId="a86adb34-9094-409a-90b9-a7c5bc646e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579cb-7c6d-42b9-885d-2089151e37b3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6f568b08-b61d-433e-a1ab-b08a131f0038}" ma:internalName="TaxCatchAll" ma:showField="CatchAllData" ma:web="3c7579cb-7c6d-42b9-885d-2089151e37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5a769d14-3dff-4d13-80cb-7ac986da4860">
      <UserInfo>
        <DisplayName/>
        <AccountId xsi:nil="true"/>
        <AccountType/>
      </UserInfo>
    </Student_Groups>
    <Distribution_Groups xmlns="5a769d14-3dff-4d13-80cb-7ac986da4860" xsi:nil="true"/>
    <Self_Registration_Enabled xmlns="5a769d14-3dff-4d13-80cb-7ac986da4860" xsi:nil="true"/>
    <Teams_Channel_Section_Location xmlns="5a769d14-3dff-4d13-80cb-7ac986da4860" xsi:nil="true"/>
    <TaxCatchAll xmlns="3c7579cb-7c6d-42b9-885d-2089151e37b3" xsi:nil="true"/>
    <LMS_Mappings xmlns="5a769d14-3dff-4d13-80cb-7ac986da4860" xsi:nil="true"/>
    <Invited_Teachers xmlns="5a769d14-3dff-4d13-80cb-7ac986da4860" xsi:nil="true"/>
    <Invited_Students xmlns="5a769d14-3dff-4d13-80cb-7ac986da4860" xsi:nil="true"/>
    <CultureName xmlns="5a769d14-3dff-4d13-80cb-7ac986da4860" xsi:nil="true"/>
    <Templates xmlns="5a769d14-3dff-4d13-80cb-7ac986da4860" xsi:nil="true"/>
    <Has_Teacher_Only_SectionGroup xmlns="5a769d14-3dff-4d13-80cb-7ac986da4860" xsi:nil="true"/>
    <FolderType xmlns="5a769d14-3dff-4d13-80cb-7ac986da4860" xsi:nil="true"/>
    <Owner xmlns="5a769d14-3dff-4d13-80cb-7ac986da4860">
      <UserInfo>
        <DisplayName/>
        <AccountId xsi:nil="true"/>
        <AccountType/>
      </UserInfo>
    </Owner>
    <Teachers xmlns="5a769d14-3dff-4d13-80cb-7ac986da4860">
      <UserInfo>
        <DisplayName/>
        <AccountId xsi:nil="true"/>
        <AccountType/>
      </UserInfo>
    </Teachers>
    <Is_Collaboration_Space_Locked xmlns="5a769d14-3dff-4d13-80cb-7ac986da4860" xsi:nil="true"/>
    <TeamsChannelId xmlns="5a769d14-3dff-4d13-80cb-7ac986da4860" xsi:nil="true"/>
    <IsNotebookLocked xmlns="5a769d14-3dff-4d13-80cb-7ac986da4860" xsi:nil="true"/>
    <NotebookType xmlns="5a769d14-3dff-4d13-80cb-7ac986da4860" xsi:nil="true"/>
    <lcf76f155ced4ddcb4097134ff3c332f xmlns="5a769d14-3dff-4d13-80cb-7ac986da4860">
      <Terms xmlns="http://schemas.microsoft.com/office/infopath/2007/PartnerControls"/>
    </lcf76f155ced4ddcb4097134ff3c332f>
    <Math_Settings xmlns="5a769d14-3dff-4d13-80cb-7ac986da4860" xsi:nil="true"/>
    <DefaultSectionNames xmlns="5a769d14-3dff-4d13-80cb-7ac986da4860" xsi:nil="true"/>
    <AppVersion xmlns="5a769d14-3dff-4d13-80cb-7ac986da4860" xsi:nil="true"/>
    <Students xmlns="5a769d14-3dff-4d13-80cb-7ac986da4860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59A43BDB-DA48-40BD-9A06-9C37577C4ABF}"/>
</file>

<file path=customXml/itemProps2.xml><?xml version="1.0" encoding="utf-8"?>
<ds:datastoreItem xmlns:ds="http://schemas.openxmlformats.org/officeDocument/2006/customXml" ds:itemID="{0D647CB1-4099-4A06-8D02-45A7C09317AF}"/>
</file>

<file path=customXml/itemProps3.xml><?xml version="1.0" encoding="utf-8"?>
<ds:datastoreItem xmlns:ds="http://schemas.openxmlformats.org/officeDocument/2006/customXml" ds:itemID="{7DF905FA-103F-4C77-9651-419220D60AF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26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09CloudFlareの活用_結果表示日本語版</dc:title>
  <dc:subject>PptxGenJS Presentation</dc:subject>
  <dc:creator>NH-STAFF 高橋真広</dc:creator>
  <cp:lastModifiedBy>NH-STAFF 高橋真広</cp:lastModifiedBy>
  <cp:revision>2</cp:revision>
  <dcterms:created xsi:type="dcterms:W3CDTF">2026-09-09T20:11:46Z</dcterms:created>
  <dcterms:modified xsi:type="dcterms:W3CDTF">2026-09-09T20:13:24Z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0x010100713E13AA675F9B469C2A962A69912BCE</vt:lpwstr>
  </property>
</Properties>
</file>