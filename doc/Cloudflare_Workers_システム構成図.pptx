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本資料は、画面側、API、処理側の役割を初心者向けに整理する補足資料です。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Pagesをフロントエンド、Workersをバックエンド、APIを両者の受け渡し口として説明します。
[Sources]
https://developers.cloudflare.com/pages/
https://developers.cloudflare.com/workers/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クリックから表示までを、要求、受付、処理、表示の4段階で説明します。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左をブラウザで動くフロントエンド、右をWorkersで動くバックエンドとして対応付けます。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不具合を3層に分けて、確認する場所を整理します。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最後に、学生に構成図を指しながら1文で説明させます。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0160">
            <a:solidFill>
              <a:srgbClr val="D8C8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49224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6A53"/>
                </a:solidFill>
              </a:rPr>
              <a:t>補足資料 ｜ フロントエンド・API・バックエンド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537960" y="100584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702552" y="11521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FRONTEND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702552" y="144475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画面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702552" y="19659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HTML / CSS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85632" y="1444752"/>
            <a:ext cx="594360" cy="457200"/>
          </a:xfrm>
          <a:prstGeom prst="leftRightArrow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1938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D7A33"/>
                </a:solidFill>
              </a:rPr>
              <a:t>要求 / 応答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0" y="100584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08592" y="11521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D7A33"/>
                </a:solidFill>
              </a:rPr>
              <a:t>BRIDGE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08592" y="144475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API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08592" y="19659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HTTP / JSON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57232" y="2487168"/>
            <a:ext cx="411480" cy="530352"/>
          </a:xfrm>
          <a:prstGeom prst="upDownArrow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14432" y="2615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53A"/>
                </a:solidFill>
              </a:rPr>
              <a:t>呼出 / 結果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49640" y="306324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14232" y="32095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BACKEND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14232" y="350215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処理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714232" y="40233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Workers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7A33"/>
                </a:solidFill>
              </a:rPr>
              <a:t>補足資料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128016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E2113"/>
                </a:solidFill>
              </a:rPr>
              <a:t>APIをはさんで理解する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2E2113"/>
                </a:solidFill>
              </a:rPr>
              <a:t>Webシステムの構成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713232" y="2971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53A"/>
                </a:solidFill>
              </a:rPr>
              <a:t>フロントエンド・API・バックエンドを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0553A"/>
                </a:solidFill>
              </a:rPr>
              <a:t>「担当する仕事」で分けて考える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6A53"/>
                </a:solidFill>
              </a:rPr>
              <a:t>Cloudflare Pages / Workers 入門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今回のシステム構成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まず「どこで何を担当するか」を3つに分ける。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063240" cy="3200400"/>
          </a:xfrm>
          <a:prstGeom prst="roundRect">
            <a:avLst>
              <a:gd name="adj" fmla="val 1791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975104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CLOUDFLARE PAGES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" y="2267712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フロントエンド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2788920"/>
            <a:ext cx="27340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利用者が見る画面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・HTML：内容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・CSS：見た目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・JavaScript：ボタン操作やAPI呼び出し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86200" y="2944368"/>
            <a:ext cx="502920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3886200" y="3840480"/>
            <a:ext cx="502920" cy="411480"/>
          </a:xfrm>
          <a:prstGeom prst="chevron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1828800"/>
            <a:ext cx="2971800" cy="3200400"/>
          </a:xfrm>
          <a:prstGeom prst="roundRect">
            <a:avLst>
              <a:gd name="adj" fmla="val 1846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9751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D7A33"/>
                </a:solidFill>
              </a:rPr>
              <a:t>/api/hello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226771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API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26426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フロントエンドとバックエンドの受け渡し口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・URLで処理を指定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・HTTPで通信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・JSONでデータを返す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90688" y="2944368"/>
            <a:ext cx="502920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7790688" y="3840480"/>
            <a:ext cx="502920" cy="411480"/>
          </a:xfrm>
          <a:prstGeom prst="chevron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5632" y="1828800"/>
            <a:ext cx="3063240" cy="3200400"/>
          </a:xfrm>
          <a:prstGeom prst="roundRect">
            <a:avLst>
              <a:gd name="adj" fmla="val 1791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50224" y="1975104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CLOUDFLARE WORKERS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50224" y="2267712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バックエンド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50224" y="2788920"/>
            <a:ext cx="27340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画面から見えない処理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・条件分岐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・データの作成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・結果をResponseで返す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54864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A33"/>
                </a:solidFill>
              </a:rPr>
              <a:t>APIは別の「画面」ではなく、画面と処理をつなぐ約束・入口。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REQUEST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クリックして結果が表示されるまで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通信を4つの出来事に分ける。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423160" cy="3246120"/>
          </a:xfrm>
          <a:prstGeom prst="roundRect">
            <a:avLst>
              <a:gd name="adj" fmla="val 2264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7510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22677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① 画面から要求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fetch("/api/hello")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「データをください」と送る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27248" y="3246120"/>
            <a:ext cx="256032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828800"/>
            <a:ext cx="2423160" cy="3246120"/>
          </a:xfrm>
          <a:prstGeom prst="roundRect">
            <a:avLst>
              <a:gd name="adj" fmla="val 2264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3592" y="197510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D7A33"/>
                </a:solidFill>
              </a:rPr>
              <a:t>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93592" y="22677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② APIが受け取る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93592" y="278892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Requestを受け取る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URLを見て処理を選ぶ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16168" y="3246120"/>
            <a:ext cx="256032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2423160" cy="3246120"/>
          </a:xfrm>
          <a:prstGeom prst="roundRect">
            <a:avLst>
              <a:gd name="adj" fmla="val 2264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82512" y="197510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BACKEND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82512" y="22677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③ Workersが処理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82512" y="278892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JavaScriptで結果を作る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Response.json()で返す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05088" y="3246120"/>
            <a:ext cx="256032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1828800"/>
            <a:ext cx="2423160" cy="3246120"/>
          </a:xfrm>
          <a:prstGeom prst="roundRect">
            <a:avLst>
              <a:gd name="adj" fmla="val 2264"/>
            </a:avLst>
          </a:prstGeom>
          <a:solidFill>
            <a:srgbClr val="FFF9F0"/>
          </a:solidFill>
          <a:ln w="25400">
            <a:solidFill>
              <a:srgbClr val="C2922B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1432" y="197510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2922B"/>
                </a:solidFill>
              </a:rPr>
              <a:t>FRONTEND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71432" y="22677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④ 画面へ表示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71432" y="278892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JSONを受け取る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messageの値をHTMLへ入れる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5486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553A"/>
                </a:solidFill>
              </a:rPr>
              <a:t>同じJavaScriptでも、画面側の処理とWorkers側の処理では「動く場所」と「役割」が違う。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CODE MAPPING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コードを構成図に対応させる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どのコードがフロントエンドで、どのコードがバックエンドかを見分ける。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303520" cy="4069080"/>
          </a:xfrm>
          <a:prstGeom prst="roundRect">
            <a:avLst>
              <a:gd name="adj" fmla="val 1348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883664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BROWSER / PAGES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" y="2176272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フロントエンド側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2697480"/>
            <a:ext cx="49743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fetch("WorkerのURL/api/hello")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.then(response =&gt; response.json())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.then(data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document.querySelector("#result")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  .textContent = data.message;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});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523036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3218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要求を送る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523036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532180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結果を画面へ表示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91072" y="1737360"/>
            <a:ext cx="5303520" cy="4069080"/>
          </a:xfrm>
          <a:prstGeom prst="roundRect">
            <a:avLst>
              <a:gd name="adj" fmla="val 1348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5664" y="1883664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WORKERS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55664" y="2176272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バックエンド側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55664" y="2697480"/>
            <a:ext cx="49743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export default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async fetch(request)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return Response.json({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  message: "こんにちは、Workers！"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});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};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523036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53218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要求を受ける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523036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532180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JSONを返す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25312" y="2926080"/>
            <a:ext cx="201168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5925312" y="4224528"/>
            <a:ext cx="201168" cy="411480"/>
          </a:xfrm>
          <a:prstGeom prst="chevron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役割を混ぜないための考え方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困ったときは「画面・通信・処理」のどこかを切り分ける。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751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画面の問題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・ボタンが表示されない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・文字が変わらない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・レイアウトが崩れる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確認：HTML / CSS / DOM操作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19751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D7A33"/>
                </a:solidFill>
              </a:rPr>
              <a:t>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81144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通信の問題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81144" y="278892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・URLが違う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・404 / 500が返る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・JSONとして読めない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確認：Network / Status / Response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3024" y="1828800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57616" y="19751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BACKEND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57616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処理の問題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57616" y="278892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・条件分岐が違う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・返す値が違う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・エラーが発生する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確認：Workersのコード / ログ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MINI EXERCISE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構成図を自分の言葉で説明する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次の問いに答えられれば、3層の役割を理解できている。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201168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Q1　利用者が直接見るのはどこ？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0392" y="260604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答え：フロントエンド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01168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Q2　画面と処理の受け渡し口は？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19672" y="260604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答え：API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74904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" y="397764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Q3　条件分岐やデータ作成をするのは？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0392" y="45720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答え：バックエンド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374904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9F0"/>
          </a:solidFill>
          <a:ln w="25400">
            <a:solidFill>
              <a:srgbClr val="C2922B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9672" y="397764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Q4　Workersから画面へ返す形式は？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19672" y="45720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答え：JSON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715000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DD7A33"/>
                </a:solidFill>
              </a:rPr>
              <a:t>説明の型：［フロントエンド］が要求し、［API］を通して［バックエンド］が処理し、［JSON］を返す。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13E13AA675F9B469C2A962A69912BCE" ma:contentTypeVersion="32" ma:contentTypeDescription="新しいドキュメントを作成します。" ma:contentTypeScope="" ma:versionID="373be977a15b5404341acea65e86cd99">
  <xsd:schema xmlns:xsd="http://www.w3.org/2001/XMLSchema" xmlns:xs="http://www.w3.org/2001/XMLSchema" xmlns:p="http://schemas.microsoft.com/office/2006/metadata/properties" xmlns:ns2="5a769d14-3dff-4d13-80cb-7ac986da4860" xmlns:ns3="3c7579cb-7c6d-42b9-885d-2089151e37b3" targetNamespace="http://schemas.microsoft.com/office/2006/metadata/properties" ma:root="true" ma:fieldsID="65ce00a2e82b42fbd9b6348465df19eb" ns2:_="" ns3:_="">
    <xsd:import namespace="5a769d14-3dff-4d13-80cb-7ac986da4860"/>
    <xsd:import namespace="3c7579cb-7c6d-42b9-885d-2089151e37b3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769d14-3dff-4d13-80cb-7ac986da4860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画像タグ" ma:readOnly="false" ma:fieldId="{5cf76f15-5ced-4ddc-b409-7134ff3c332f}" ma:taxonomyMulti="true" ma:sspId="a86adb34-9094-409a-90b9-a7c5bc646e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579cb-7c6d-42b9-885d-2089151e37b3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6f568b08-b61d-433e-a1ab-b08a131f0038}" ma:internalName="TaxCatchAll" ma:showField="CatchAllData" ma:web="3c7579cb-7c6d-42b9-885d-2089151e37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5a769d14-3dff-4d13-80cb-7ac986da4860">
      <UserInfo>
        <DisplayName/>
        <AccountId xsi:nil="true"/>
        <AccountType/>
      </UserInfo>
    </Student_Groups>
    <Distribution_Groups xmlns="5a769d14-3dff-4d13-80cb-7ac986da4860" xsi:nil="true"/>
    <Self_Registration_Enabled xmlns="5a769d14-3dff-4d13-80cb-7ac986da4860" xsi:nil="true"/>
    <Teams_Channel_Section_Location xmlns="5a769d14-3dff-4d13-80cb-7ac986da4860" xsi:nil="true"/>
    <TaxCatchAll xmlns="3c7579cb-7c6d-42b9-885d-2089151e37b3" xsi:nil="true"/>
    <LMS_Mappings xmlns="5a769d14-3dff-4d13-80cb-7ac986da4860" xsi:nil="true"/>
    <Invited_Teachers xmlns="5a769d14-3dff-4d13-80cb-7ac986da4860" xsi:nil="true"/>
    <Invited_Students xmlns="5a769d14-3dff-4d13-80cb-7ac986da4860" xsi:nil="true"/>
    <CultureName xmlns="5a769d14-3dff-4d13-80cb-7ac986da4860" xsi:nil="true"/>
    <Templates xmlns="5a769d14-3dff-4d13-80cb-7ac986da4860" xsi:nil="true"/>
    <Has_Teacher_Only_SectionGroup xmlns="5a769d14-3dff-4d13-80cb-7ac986da4860" xsi:nil="true"/>
    <FolderType xmlns="5a769d14-3dff-4d13-80cb-7ac986da4860" xsi:nil="true"/>
    <Owner xmlns="5a769d14-3dff-4d13-80cb-7ac986da4860">
      <UserInfo>
        <DisplayName/>
        <AccountId xsi:nil="true"/>
        <AccountType/>
      </UserInfo>
    </Owner>
    <Teachers xmlns="5a769d14-3dff-4d13-80cb-7ac986da4860">
      <UserInfo>
        <DisplayName/>
        <AccountId xsi:nil="true"/>
        <AccountType/>
      </UserInfo>
    </Teachers>
    <Is_Collaboration_Space_Locked xmlns="5a769d14-3dff-4d13-80cb-7ac986da4860" xsi:nil="true"/>
    <TeamsChannelId xmlns="5a769d14-3dff-4d13-80cb-7ac986da4860" xsi:nil="true"/>
    <IsNotebookLocked xmlns="5a769d14-3dff-4d13-80cb-7ac986da4860" xsi:nil="true"/>
    <NotebookType xmlns="5a769d14-3dff-4d13-80cb-7ac986da4860" xsi:nil="true"/>
    <lcf76f155ced4ddcb4097134ff3c332f xmlns="5a769d14-3dff-4d13-80cb-7ac986da4860">
      <Terms xmlns="http://schemas.microsoft.com/office/infopath/2007/PartnerControls"/>
    </lcf76f155ced4ddcb4097134ff3c332f>
    <Math_Settings xmlns="5a769d14-3dff-4d13-80cb-7ac986da4860" xsi:nil="true"/>
    <DefaultSectionNames xmlns="5a769d14-3dff-4d13-80cb-7ac986da4860" xsi:nil="true"/>
    <AppVersion xmlns="5a769d14-3dff-4d13-80cb-7ac986da4860" xsi:nil="true"/>
    <Students xmlns="5a769d14-3dff-4d13-80cb-7ac986da4860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6C524DEA-AE26-47AE-AE00-7A463C8775BF}"/>
</file>

<file path=customXml/itemProps2.xml><?xml version="1.0" encoding="utf-8"?>
<ds:datastoreItem xmlns:ds="http://schemas.openxmlformats.org/officeDocument/2006/customXml" ds:itemID="{8B59B8EE-1ACD-42C1-9C14-6CB32EF219FD}"/>
</file>

<file path=customXml/itemProps3.xml><?xml version="1.0" encoding="utf-8"?>
<ds:datastoreItem xmlns:ds="http://schemas.openxmlformats.org/officeDocument/2006/customXml" ds:itemID="{EBA84BA9-D050-4CDF-B8F0-555074108ED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Cloudflare Workers システム構成図_矢印修正版</dc:title>
  <dc:subject>フロントエンド・API・バックエンドの理解</dc:subject>
  <dc:creator>NH-STAFF 高橋真広</dc:creator>
  <cp:lastModifiedBy>NH-STAFF 高橋真広</cp:lastModifiedBy>
  <cp:revision>2</cp:revision>
  <dcterms:created xsi:type="dcterms:W3CDTF">2026-09-09T21:26:20Z</dcterms:created>
  <dcterms:modified xsi:type="dcterms:W3CDTF">2026-09-09T21:27:32Z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0x010100713E13AA675F9B469C2A962A69912BCE</vt:lpwstr>
  </property>
</Properties>
</file>